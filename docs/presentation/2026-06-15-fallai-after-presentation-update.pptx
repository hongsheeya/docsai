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14B8A6"/>
                </a:solidFill>
                <a:latin typeface="Noto Sans CJK KR"/>
              </a:rPr>
              <a:t>FallAI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875520" cy="9144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4200" b="1">
                <a:solidFill>
                  <a:srgbClr val="141C2D"/>
                </a:solidFill>
                <a:latin typeface="Noto Sans CJK KR"/>
              </a:rPr>
              <a:t>저번 발표 이후</a:t>
            </a:r>
            <a:br/>
            <a:r>
              <a:t>작업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23160"/>
            <a:ext cx="960120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700" b="0">
                <a:solidFill>
                  <a:srgbClr val="232B3A"/>
                </a:solidFill>
                <a:latin typeface="Noto Sans CJK KR"/>
              </a:rPr>
              <a:t>모델 운영 보호 · 학습 자동화 · 가림보조 우선 개선 · 온디바이스 방향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94760"/>
            <a:ext cx="23317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379476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922776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RF-Pipeline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233672"/>
            <a:ext cx="1984248" cy="4297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41C2D"/>
                </a:solidFill>
                <a:latin typeface="Noto Sans CJK KR"/>
              </a:rPr>
              <a:t>F1 98.1%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3794760"/>
            <a:ext cx="23317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3794760"/>
            <a:ext cx="64008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3922776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XG-Posture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4233672"/>
            <a:ext cx="1984248" cy="4297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41C2D"/>
                </a:solidFill>
                <a:latin typeface="Noto Sans CJK KR"/>
              </a:rPr>
              <a:t>F1 94.3%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0448" y="3794760"/>
            <a:ext cx="23317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70448" y="3794760"/>
            <a:ext cx="6400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3922776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가림 보조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4233672"/>
            <a:ext cx="1984248" cy="4297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41C2D"/>
                </a:solidFill>
                <a:latin typeface="Noto Sans CJK KR"/>
              </a:rPr>
              <a:t>F1 86.6%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3794760"/>
            <a:ext cx="23317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0768" y="3794760"/>
            <a:ext cx="64008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1936" y="3922776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현재 우선순위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4233672"/>
            <a:ext cx="1984248" cy="4297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가림 재학습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발표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6400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545336"/>
            <a:ext cx="1828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56232"/>
            <a:ext cx="155448" cy="-274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41C2D"/>
                </a:solidFill>
                <a:latin typeface="Noto Sans CJK K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35608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운영 모델 보호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435608"/>
            <a:ext cx="69494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232B3A"/>
                </a:solidFill>
                <a:latin typeface="Noto Sans CJK KR"/>
              </a:rPr>
              <a:t>낮은 후보가 active를 덮지 않도록 복구/보호 로직 정리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40280"/>
            <a:ext cx="5029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240280"/>
            <a:ext cx="6400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368296"/>
            <a:ext cx="1828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679192"/>
            <a:ext cx="155448" cy="-274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41C2D"/>
                </a:solidFill>
                <a:latin typeface="Noto Sans CJK K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258568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모델 관리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258568"/>
            <a:ext cx="69494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232B3A"/>
                </a:solidFill>
                <a:latin typeface="Noto Sans CJK KR"/>
              </a:rPr>
              <a:t>업로드, 버전 비교, 선택 적용, 삭제 유예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063240"/>
            <a:ext cx="5029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063240"/>
            <a:ext cx="6400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191256"/>
            <a:ext cx="1828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502152"/>
            <a:ext cx="155448" cy="-274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41C2D"/>
                </a:solidFill>
                <a:latin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081528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학습/데이터 운영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081528"/>
            <a:ext cx="69494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232B3A"/>
                </a:solidFill>
                <a:latin typeface="Noto Sans CJK KR"/>
              </a:rPr>
              <a:t>백그라운드 현황, ETA, 재수신 우선순위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86200"/>
            <a:ext cx="5029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886200"/>
            <a:ext cx="6400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014216"/>
            <a:ext cx="1828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25112"/>
            <a:ext cx="155448" cy="-274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41C2D"/>
                </a:solidFill>
                <a:latin typeface="Noto Sans CJK K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904488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가림보조 재학습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904488"/>
            <a:ext cx="69494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232B3A"/>
                </a:solidFill>
                <a:latin typeface="Noto Sans CJK KR"/>
              </a:rPr>
              <a:t>pseudo-label 경로와 현재 병목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09160"/>
            <a:ext cx="5029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709160"/>
            <a:ext cx="64008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4837176"/>
            <a:ext cx="1828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5148072"/>
            <a:ext cx="155448" cy="-274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141C2D"/>
                </a:solidFill>
                <a:latin typeface="Noto Sans CJK K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727448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온디바이스 방향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727448"/>
            <a:ext cx="69494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232B3A"/>
                </a:solidFill>
                <a:latin typeface="Noto Sans CJK KR"/>
              </a:rPr>
              <a:t>그대로 내장 대신 경량 추론 중심 구조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운영 모델 기준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29400" y="1325880"/>
          <a:ext cx="48920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4846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모델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현재 운영 기준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상태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RF-Fall v2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F1 93.0%, Acc 92.8%, Recall 95.4%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v2-best-recorded 유지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RF-Pipeline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CV F1 98.1%, Acc 96.8%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통합 후보 v15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XG-Posture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Macro F1 94.3%, Acc 94.3%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v1-best-recorded 복구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가림 보조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Macro F1 86.6%, Acc 86.6%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90% 미만 후보 저장 금지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160520"/>
            <a:ext cx="10515600" cy="10058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낮은 후보가 운영 모델을 덮은 케이스를 확인하고 XG-Posture active를 F1 94.3% 버전으로 복구했습니다.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이후 학습 실험은 active 교체 금지 옵션과 최소 저장 기준을 통과해야 운영 경로에 반영됩니다.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7607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모델 관리 기능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6400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53896"/>
            <a:ext cx="31089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3081528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파일/폴더 등록</a:t>
            </a:r>
            <a:br/>
            <a:r>
              <a:t>summary 자동 반영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6400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53896"/>
            <a:ext cx="31089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버전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64792"/>
            <a:ext cx="3081528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버전명·성능·샘플 수</a:t>
            </a:r>
            <a:br/>
            <a:r>
              <a:t>한 화면 비교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29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64008" cy="10972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453896"/>
            <a:ext cx="31089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삭제 보호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64792"/>
            <a:ext cx="3081528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운영 모델 삭제 차단</a:t>
            </a:r>
            <a:br/>
            <a:r>
              <a:t>후보는 유예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34640"/>
            <a:ext cx="10607040" cy="14630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실시간 모드와 업로드 모드에서 사용할 모델 버전을 선택할 수 있도록 모델 registry 기반 구조를 추가했습니다.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비교 화면은 선택한 모델만 보거나, 선택이 없을 때 상위 후보를 보여주는 방식으로 정리했습니다.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서버가 JSON 대신 HTML 오류 페이지를 반환하는 경우 사용자에게 HTTP 상태와 조치 안내가 보이도록 처리했습니다.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4572000"/>
          <a:ext cx="105156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2857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관리 항목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변경 후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모델 추가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pkl/joblib/pt/onnx/json/zip/tar 및 폴더 업로드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모델 비교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선택한 버전 중심 비교, 버전 표시 포함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모델 삭제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active 보호, 후보 정리용 유예 삭제 정책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학습 모드 운영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212080" cy="18288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추가 확보 데이터를 사이트에서 직접 업로드하고 라벨을 붙여 학습 intake에 저장합니다.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학습 현황 카드에는 진행 중인 모델, 단계, ETA, 최근 로그, 완료/실패 상태가 표시되도록 정리했습니다.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완료된 학습은 계속 공간을 차지하지 않도록 로그와 상태 이력으로 분리하는 방향으로 정리했습니다.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21031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64008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545336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현재 정책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56232"/>
            <a:ext cx="1755648" cy="4297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진행 중 우선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17320"/>
            <a:ext cx="21031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1417320"/>
            <a:ext cx="6400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1545336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오류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1856232"/>
            <a:ext cx="1755648" cy="4297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JSON/HTML 응답 분리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88920"/>
            <a:ext cx="21031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78892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916936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재개 기능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227832"/>
            <a:ext cx="1755648" cy="4297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페이지 직접 재개 목표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788920"/>
            <a:ext cx="21031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788920"/>
            <a:ext cx="64008" cy="9601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2916936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227832"/>
            <a:ext cx="1755648" cy="4297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가림보조 최상위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22960" y="4434840"/>
          <a:ext cx="105156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2857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항목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현재 반영 내용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네비게이션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하단 메뉴 4개 한 줄 배치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모델 현황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5개 모델 기준으로 버전/성능 표시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학습 재개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UI 직접 재개를 목표로 API/상태 구조 정리 중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데이터 확보와 재수신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1089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64008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53896"/>
            <a:ext cx="27889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RF-Fall 등록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64792"/>
            <a:ext cx="276148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3,400개 영상</a:t>
            </a:r>
            <a:br/>
            <a:r>
              <a:t>약 38GB 사용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325880"/>
            <a:ext cx="31089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32588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53896"/>
            <a:ext cx="27889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AI-Hub 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764792"/>
            <a:ext cx="276148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감정 원천 재수신</a:t>
            </a:r>
            <a:br/>
            <a:r>
              <a:t>다운로드 지속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325880"/>
            <a:ext cx="310896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32588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453896"/>
            <a:ext cx="27889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AI-Hub 71461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1764792"/>
            <a:ext cx="276148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1">
                <a:solidFill>
                  <a:srgbClr val="141C2D"/>
                </a:solidFill>
                <a:latin typeface="Noto Sans CJK KR"/>
              </a:rPr>
              <a:t>자세 보강용</a:t>
            </a:r>
            <a:br/>
            <a:r>
              <a:t>일부 zip 무결성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가림보조는 AI-Hub 재수신만 기다리지 않고, 이미 등록된 RF-Fall 영상을 사용해 pseudo-label 기반 재학습 경로를 추가했습니다.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저장공간은 /mnt/data와 /opt/app를 구분해 보고, 모델과 summary는 persistent storage 및 backup 경로에 보존하도록 정리했습니다.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데이터 다운로드와 표정 학습 프로세스는 현재 낮은 우선순위로 조정했고, 가림보조 학습에 CPU를 우선 배정했습니다.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가림보조 재학습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29400" y="1325880"/>
          <a:ext cx="48920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6057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실험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결과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해석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기존 운영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F1 86.6%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현재 active 유지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severe pseudo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F1 48.3%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가림이 과도해 라벨-특징 불일치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mild/conf0.25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진행 중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PID 1040835, 저장 기준 90%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160520"/>
            <a:ext cx="10515600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severe 가림은 5개 클래스를 균형 있게 채워도 sit/lie/보행 경계가 무너졌습니다.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현재 라운드는 하체 random_mild, 좌우 left/right_mild만 사용해 보수적으로 다시 검증 중입니다.</a:t>
            </a:r>
          </a:p>
        </p:txBody>
      </p:sp>
      <p:pic>
        <p:nvPicPr>
          <p:cNvPr id="10" name="Picture 9" descr="occlusion_experiment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57607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가림보조 설계와 보호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5440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기준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현재 값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의미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avg_conf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&lt; 0.38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검출 신뢰도 낮음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lower visibility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&lt; 0.42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하체 keypoint 부족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main margin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&lt; 0.07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자세 모델 확신 낮음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side suspected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true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좌우 가림 후보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1417320"/>
            <a:ext cx="4709160" cy="21945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B3A"/>
                </a:solidFill>
                <a:latin typeface="Noto Sans CJK KR"/>
              </a:defRPr>
            </a:pPr>
            <a:r>
              <a:t>원본과 가림 증강 row를 같은 group으로 묶어 train/test 누수를 막습니다.</a:t>
            </a:r>
          </a:p>
          <a:p>
            <a:pPr>
              <a:spcAft>
                <a:spcPts val="500"/>
              </a:spcAft>
              <a:defRPr sz="1300">
                <a:solidFill>
                  <a:srgbClr val="232B3A"/>
                </a:solidFill>
                <a:latin typeface="Noto Sans CJK KR"/>
              </a:defRPr>
            </a:pPr>
            <a:r>
              <a:t>pseudo-label 경로는 emergency recovery로 기록하고, true posture label 확보 시 교체합니다.</a:t>
            </a:r>
          </a:p>
          <a:p>
            <a:pPr>
              <a:spcAft>
                <a:spcPts val="500"/>
              </a:spcAft>
              <a:defRPr sz="1300">
                <a:solidFill>
                  <a:srgbClr val="232B3A"/>
                </a:solidFill>
                <a:latin typeface="Noto Sans CJK KR"/>
              </a:defRPr>
            </a:pPr>
            <a:r>
              <a:t>후보 F1이 기존 또는 최소 기준보다 낮으면 저장하지 않습니다.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069080"/>
            <a:ext cx="64008" cy="10515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197096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실험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507992"/>
            <a:ext cx="280720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141C2D"/>
                </a:solidFill>
                <a:latin typeface="Noto Sans CJK KR"/>
              </a:rPr>
              <a:t>severe 포함</a:t>
            </a:r>
            <a:br/>
            <a:r>
              <a:t>실패 원인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6908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4069080"/>
            <a:ext cx="64008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4197096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실험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507992"/>
            <a:ext cx="280720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141C2D"/>
                </a:solidFill>
                <a:latin typeface="Noto Sans CJK KR"/>
              </a:rPr>
              <a:t>mild 중심</a:t>
            </a:r>
            <a:br/>
            <a:r>
              <a:t>현재 진행 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069080"/>
            <a:ext cx="31546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406908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4197096"/>
            <a:ext cx="2834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다음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4507992"/>
            <a:ext cx="280720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141C2D"/>
                </a:solidFill>
                <a:latin typeface="Noto Sans CJK KR"/>
              </a:rPr>
              <a:t>true 가림 촬영</a:t>
            </a:r>
            <a:br/>
            <a:r>
              <a:t>90% 이상 목표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표정·상태 모델 이후 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394960" cy="22402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표정/상태 모델은 낙상 판단을 직접 뒤집는 주 모델이 아니라 보조 evidence로 제한했습니다.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AI-Hub 173 상태 모델은 백그라운드 재학습 중이며, 다른 작업보다 낮은 CPU 우선순위로 조정했습니다.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AI-Hub 82 감정 데이터는 원천 재수신이 계속 진행 중입니다.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417320"/>
          <a:ext cx="4800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모델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현재 역할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운영 판단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AI-Hub 173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졸음/하품/주의저하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상태 근거로 표시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AI-Hub 82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감정/불안/상처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재수신 후 재검증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Facial evidence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낙상 보조 신호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threshold 직접 보정 제한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4572000"/>
            <a:ext cx="10332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64008" cy="685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700016"/>
            <a:ext cx="10012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운영 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010912"/>
            <a:ext cx="9985248" cy="1554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141C2D"/>
                </a:solidFill>
                <a:latin typeface="Noto Sans CJK KR"/>
              </a:rPr>
              <a:t>표정은 낙상 판단의 주 근거가 아니라, near-miss 설명과 위험 근거 보강에만 사용합니다.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온디바이스 적용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10607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방식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가능성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판단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현재 프로그램 전체 내장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낮음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학습/데이터관리/대시보드/다운로드까지 포함돼 장치 리소스와 운영성이 맞지 않음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추론 전용 경량 런타임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가능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pose 추출 + active 모델 inference + 이벤트 전송 구조로 축소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하이브리드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권장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장치는 실시간 판정, 서버는 학습/모델관리/백업/리포트 담당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069080"/>
            <a:ext cx="10424160" cy="1143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온디바이스 목표는 “현재 웹 프로그램 그대로 탑재”가 아니라, 운영에 필요한 추론 부분만 분리하는 방향이 현실적입니다.</a:t>
            </a:r>
          </a:p>
          <a:p>
            <a:pPr>
              <a:spcAft>
                <a:spcPts val="500"/>
              </a:spcAft>
              <a:defRPr sz="1400">
                <a:solidFill>
                  <a:srgbClr val="232B3A"/>
                </a:solidFill>
                <a:latin typeface="Noto Sans CJK KR"/>
              </a:defRPr>
            </a:pPr>
            <a:r>
              <a:t>모델 업데이트는 서버에서 검증 후 장치에 배포하고, 장치는 active 버전과 fallback 버전만 보유합니다.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교수님께 요청할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106070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6126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우선순위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필요 데이터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41C2D"/>
                          </a:solidFill>
                          <a:latin typeface="Noto Sans CJK KR"/>
                        </a:defRPr>
                      </a:pPr>
                      <a:r>
                        <a:t>왜 필요한가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침대/가구/문틀에 의한 하체·좌우 가림 영상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합성 가림과 실제 가림 차이를 줄여 가림보조 90% 이상 목표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run/walk/sit/lie가 명확한 자세 라벨 영상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pseudo-label 병목을 제거하고 group CV 신뢰도 확보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낙상 전후 얼굴이 작거나 일부 가려진 영상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표정/상태 보조의 실제 적용 가능성 검증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온디바이스 설치 각도 샘플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32B3A"/>
                          </a:solidFill>
                          <a:latin typeface="Noto Sans CJK KR"/>
                        </a:defRPr>
                      </a:pPr>
                      <a:r>
                        <a:t>장치 배치 후 검출률·지연시간·오탐을 실제 환경에서 검증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846320"/>
            <a:ext cx="103327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46320"/>
            <a:ext cx="6400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974336"/>
            <a:ext cx="10012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요청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285232"/>
            <a:ext cx="9985248" cy="2468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41C2D"/>
                </a:solidFill>
                <a:latin typeface="Noto Sans CJK KR"/>
              </a:rPr>
              <a:t>이미 가진 데이터와 같은 종류를 더 받는 것이 아니라, 현재 모델이 약한 조건을 의도적으로 촬영해야 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Noto Sans CJK KR"/>
              </a:rPr>
              <a:t>저번 발표 이후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600" b="1">
                <a:solidFill>
                  <a:srgbClr val="141C2D"/>
                </a:solidFill>
                <a:latin typeface="Noto Sans CJK KR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27432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Noto Sans CJK KR"/>
              </a:rPr>
              <a:t>FallAI update · 2026-06-15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48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Noto Sans CJK K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3383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64008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453896"/>
            <a:ext cx="30632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운영 안정성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764792"/>
            <a:ext cx="303580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141C2D"/>
                </a:solidFill>
                <a:latin typeface="Noto Sans CJK KR"/>
              </a:rPr>
              <a:t>낮은 후보 자동 적용 방지</a:t>
            </a:r>
            <a:br/>
            <a:r>
              <a:t>active 복구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83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32588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453896"/>
            <a:ext cx="30632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관리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764792"/>
            <a:ext cx="303580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141C2D"/>
                </a:solidFill>
                <a:latin typeface="Noto Sans CJK KR"/>
              </a:rPr>
              <a:t>모델 업로드·비교·선택</a:t>
            </a:r>
            <a:br/>
            <a:r>
              <a:t>삭제 보호 구조 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325880"/>
            <a:ext cx="3383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325880"/>
            <a:ext cx="64008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3" y="1453896"/>
            <a:ext cx="30632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Noto Sans CJK KR"/>
              </a:rPr>
              <a:t>가림보조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3" y="1764792"/>
            <a:ext cx="3035808" cy="5212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141C2D"/>
                </a:solidFill>
                <a:latin typeface="Noto Sans CJK KR"/>
              </a:rPr>
              <a:t>최우선 재학습 진행</a:t>
            </a:r>
            <a:br/>
            <a:r>
              <a:t>목표 90% 이상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71800"/>
            <a:ext cx="10424160" cy="15544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B3A"/>
                </a:solidFill>
                <a:latin typeface="Noto Sans CJK KR"/>
              </a:defRPr>
            </a:pPr>
            <a:r>
              <a:t>저번 발표 이후의 핵심 변화는 “모델을 만드는 것”에서 “운영 모델을 보호하면서 계속 개선하는 구조”로 넘어간 점입니다.</a:t>
            </a:r>
          </a:p>
          <a:p>
            <a:pPr>
              <a:spcAft>
                <a:spcPts val="500"/>
              </a:spcAft>
              <a:defRPr sz="1500">
                <a:solidFill>
                  <a:srgbClr val="232B3A"/>
                </a:solidFill>
                <a:latin typeface="Noto Sans CJK KR"/>
              </a:defRPr>
            </a:pPr>
            <a:r>
              <a:t>가림보조는 현재 가장 큰 우선순위이며, 실제 가림 데이터가 확보되면 pseudo-label 경로를 true-label 학습으로 교체합니다.</a:t>
            </a:r>
          </a:p>
          <a:p>
            <a:pPr>
              <a:spcAft>
                <a:spcPts val="500"/>
              </a:spcAft>
              <a:defRPr sz="1500">
                <a:solidFill>
                  <a:srgbClr val="232B3A"/>
                </a:solidFill>
                <a:latin typeface="Noto Sans CJK KR"/>
              </a:defRPr>
            </a:pPr>
            <a:r>
              <a:t>온디바이스는 전체 웹 시스템 내장이 아니라, 검증된 추론 런타임을 장치에 넣고 학습/관리는 서버에 남기는 방식이 현실적입니다.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