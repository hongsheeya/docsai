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170432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704320" cy="6583680"/>
          </a:xfrm>
          <a:prstGeom prst="rect">
            <a:avLst/>
          </a:prstGeom>
          <a:solidFill>
            <a:srgbClr val="F5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806A"/>
                </a:solidFill>
                <a:latin typeface="Malgun Gothic"/>
              </a:defRPr>
            </a:pPr>
            <a:r>
              <a:t>FallAI Commercial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314F"/>
                </a:solidFill>
                <a:latin typeface="Malgun Gothic"/>
              </a:defRPr>
            </a:pPr>
            <a:r>
              <a:t>인원수별 RTT와 프레임 처리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267712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334155"/>
                </a:solidFill>
                <a:latin typeface="Malgun Gothic"/>
              </a:defRPr>
            </a:pPr>
            <a:r>
              <a:t>다중 인원 표시, 서버 프레임 샘플링, 대표 인물 판정 한계, 운영 가이드까지 한 번에 설명하는 새 발표자료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657600"/>
            <a:ext cx="3154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3657600"/>
            <a:ext cx="73152" cy="1051560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803904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806A"/>
                </a:solidFill>
                <a:latin typeface="Malgun Gothic"/>
              </a:defRPr>
            </a:pPr>
            <a:r>
              <a:t>운영 보증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133087"/>
            <a:ext cx="2834640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현재 낙상 판정은 대표 1명 중심</a:t>
            </a:r>
            <a:br/>
            <a:r>
              <a:t>1~2명 통제 환경 권장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3657600"/>
            <a:ext cx="3154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3657600"/>
            <a:ext cx="73152" cy="1051560"/>
          </a:xfrm>
          <a:prstGeom prst="rect">
            <a:avLst/>
          </a:prstGeom>
          <a:solidFill>
            <a:srgbClr val="24476B"/>
          </a:solidFill>
          <a:ln>
            <a:solidFill>
              <a:srgbClr val="24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3803904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476B"/>
                </a:solidFill>
                <a:latin typeface="Malgun Gothic"/>
              </a:defRPr>
            </a:pPr>
            <a:r>
              <a:t>무저하 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4133087"/>
            <a:ext cx="2834640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실시간 320px 기준</a:t>
            </a:r>
            <a:br/>
            <a:r>
              <a:t>RTT+검출 안정 3명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7808" y="3657600"/>
            <a:ext cx="3154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07808" y="3657600"/>
            <a:ext cx="73152" cy="1051560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803904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7916"/>
                </a:solidFill>
                <a:latin typeface="Malgun Gothic"/>
              </a:defRPr>
            </a:pPr>
            <a:r>
              <a:t>표시/한계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133087"/>
            <a:ext cx="2834640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5명 표시 가능, 판정 보수</a:t>
            </a:r>
            <a:br/>
            <a:r>
              <a:t>20명은 처리량 한계 테스트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이번 발표의 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234440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746504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806A"/>
                </a:solidFill>
                <a:latin typeface="Malgun Gothic"/>
              </a:defRPr>
            </a:pPr>
            <a:r>
              <a:t>무저하 상한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75688"/>
            <a:ext cx="28803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실시간 320px 기준 3명까지</a:t>
            </a:r>
            <a:br/>
            <a:r>
              <a:t>RTT+검출 안정성 유지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600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600200"/>
            <a:ext cx="73152" cy="1234440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746504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7916"/>
                </a:solidFill>
                <a:latin typeface="Malgun Gothic"/>
              </a:defRPr>
            </a:pPr>
            <a:r>
              <a:t>표시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075688"/>
            <a:ext cx="28803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4~5명은 RTT 유지</a:t>
            </a:r>
            <a:br/>
            <a:r>
              <a:t>과검출 증가로 판정 보수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600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1600200"/>
            <a:ext cx="73152" cy="1234440"/>
          </a:xfrm>
          <a:prstGeom prst="rect">
            <a:avLst/>
          </a:prstGeom>
          <a:solidFill>
            <a:srgbClr val="24476B"/>
          </a:solidFill>
          <a:ln>
            <a:solidFill>
              <a:srgbClr val="24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1746504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476B"/>
                </a:solidFill>
                <a:latin typeface="Malgun Gothic"/>
              </a:defRPr>
            </a:pPr>
            <a:r>
              <a:t>운영 보증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075688"/>
            <a:ext cx="28803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현재 보증은 대표 1명, 통제 환경 2명.</a:t>
            </a:r>
            <a:br/>
            <a:r>
              <a:t>person별 판정 통합 후 5명 목표.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화면에는 여러 사람 skeleton/bbox를 보여줄 수 있지만 RF-Fall/XG-Posture 입력은 아직 대표 인물 timeseries 중심이다.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RTT만 보면 1~5명은 0.140~0.165초로 거의 유지되지만, 4~5명부터 검출 수가 33~38% 과하게 잡힌다.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6명 이상은 320px 실시간 타일 조건에서 검출이 무너졌다. 발표 메시지는 '3명 무저하, 5명 표시 가능, 20명 한계 테스트'로 자른다.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Frame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실시간 프레임 처리 경로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algun Gothic"/>
              </a:defRPr>
            </a:pPr>
            <a:r>
              <a:t>웹캠 video element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algun Gothic"/>
              </a:defRPr>
            </a:pPr>
            <a:r>
              <a:t>브라우저 MediaPipe skeleton 표시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algun Gothic"/>
              </a:defRPr>
            </a:pPr>
            <a:r>
              <a:t>MediaRecorder WebM chunk 생성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algun Gothic"/>
              </a:defRPr>
            </a:pPr>
            <a:r>
              <a:t>서버 OpenCV 프레임 샘플링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algun Gothic"/>
              </a:defRPr>
            </a:pPr>
            <a:r>
              <a:t>YOLOv8n-pose 추론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algun Gothic"/>
              </a:defRPr>
            </a:pPr>
            <a:r>
              <a:t>대표 인물 timeseries 생성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algun Gothic"/>
              </a:defRPr>
            </a:pPr>
            <a:r>
              <a:t>RF-Fall / XG-Posture / 보조모델 evidence 결합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160020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0" y="1600200"/>
            <a:ext cx="73152" cy="658368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74650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806A"/>
                </a:solidFill>
                <a:latin typeface="Malgun Gothic"/>
              </a:defRPr>
            </a:pPr>
            <a:r>
              <a:t>1. Webcam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075688"/>
            <a:ext cx="169164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8046720" y="160020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73152" cy="658368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4650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806A"/>
                </a:solidFill>
                <a:latin typeface="Malgun Gothic"/>
              </a:defRPr>
            </a:pPr>
            <a:r>
              <a:t>2. Skeleton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075688"/>
            <a:ext cx="169164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5715000" y="265176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651760"/>
            <a:ext cx="73152" cy="658368"/>
          </a:xfrm>
          <a:prstGeom prst="rect">
            <a:avLst/>
          </a:prstGeom>
          <a:solidFill>
            <a:srgbClr val="24476B"/>
          </a:solidFill>
          <a:ln>
            <a:solidFill>
              <a:srgbClr val="24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279806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476B"/>
                </a:solidFill>
                <a:latin typeface="Malgun Gothic"/>
              </a:defRPr>
            </a:pPr>
            <a:r>
              <a:t>3. WebM chunk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3127248"/>
            <a:ext cx="169164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8046720" y="265176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73152" cy="658368"/>
          </a:xfrm>
          <a:prstGeom prst="rect">
            <a:avLst/>
          </a:prstGeom>
          <a:solidFill>
            <a:srgbClr val="24476B"/>
          </a:solidFill>
          <a:ln>
            <a:solidFill>
              <a:srgbClr val="24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79806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476B"/>
                </a:solidFill>
                <a:latin typeface="Malgun Gothic"/>
              </a:defRPr>
            </a:pPr>
            <a:r>
              <a:t>4. 4fps sample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127248"/>
            <a:ext cx="169164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5715000" y="370332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3703320"/>
            <a:ext cx="73152" cy="658368"/>
          </a:xfrm>
          <a:prstGeom prst="rect">
            <a:avLst/>
          </a:prstGeom>
          <a:solidFill>
            <a:srgbClr val="24476B"/>
          </a:solidFill>
          <a:ln>
            <a:solidFill>
              <a:srgbClr val="24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9592" y="384962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476B"/>
                </a:solidFill>
                <a:latin typeface="Malgun Gothic"/>
              </a:defRPr>
            </a:pPr>
            <a:r>
              <a:t>5. YOLO 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9592" y="4178808"/>
            <a:ext cx="169164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703320"/>
            <a:ext cx="73152" cy="658368"/>
          </a:xfrm>
          <a:prstGeom prst="rect">
            <a:avLst/>
          </a:prstGeom>
          <a:solidFill>
            <a:srgbClr val="24476B"/>
          </a:solidFill>
          <a:ln>
            <a:solidFill>
              <a:srgbClr val="24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2" y="384962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476B"/>
                </a:solidFill>
                <a:latin typeface="Malgun Gothic"/>
              </a:defRPr>
            </a:pPr>
            <a:r>
              <a:t>6. RF/XG + Aux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4178808"/>
            <a:ext cx="169164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</a:p>
        </p:txBody>
      </p:sp>
      <p:sp>
        <p:nvSpPr>
          <p:cNvPr id="32" name="Rectangle 31"/>
          <p:cNvSpPr/>
          <p:nvPr/>
        </p:nvSpPr>
        <p:spPr>
          <a:xfrm>
            <a:off x="5715000" y="4754879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0" y="4754879"/>
            <a:ext cx="73152" cy="658368"/>
          </a:xfrm>
          <a:prstGeom prst="rect">
            <a:avLst/>
          </a:prstGeom>
          <a:solidFill>
            <a:srgbClr val="24476B"/>
          </a:solidFill>
          <a:ln>
            <a:solidFill>
              <a:srgbClr val="24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9592" y="4901183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476B"/>
                </a:solidFill>
                <a:latin typeface="Malgun Gothic"/>
              </a:defRPr>
            </a:pPr>
            <a:r>
              <a:t>7.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9592" y="5230367"/>
            <a:ext cx="169164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5715000" y="548640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14F"/>
                </a:solidFill>
                <a:latin typeface="Malgun Gothic"/>
              </a:defRPr>
            </a:pPr>
            <a:r>
              <a:t>기본값: 4초 chunk · 2초 overlap · 서버 4fps · 약 16 pose frame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Display vs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브라우저 표시와 서버 판정은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  <a:gridCol w="2606040"/>
                <a:gridCol w="260604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현재 값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주의점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브라우저 skeleton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약 15fps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프라이버시 화면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체감용이며 서버 판정 입력과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실시간 chunk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4초 / 2초 overlap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경계 낙상 맥락 보존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서버 응답 지연 시 RTT 표시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서버 샘플링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4fps 중심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RF/XG feature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16프레임이 기본 균형점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업로드 balanced/full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최대 8fps / imgsz 640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정밀 분석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실시간보다 무거움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80060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실시간 UX는 브라우저 skeleton 15fps로 부드럽게 유지하고, 판정 입력은 서버 4fps로 안정화한다.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SHAP/무거운 해석은 실시간 전 청크에 붙이지 않고, 오류 분석/보고서 또는 제한된 UI 근거로 사용한다.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RTT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1~5명 pose 처리량 벤치마크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49377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3581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pose FPS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4초 chunk RTT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평균 검출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170.88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0.140s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171.89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0.140s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1.92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145.30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0.165s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2.38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145.97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0.164s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5.50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169.98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0.141s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89320" y="1508760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4F"/>
                </a:solidFill>
                <a:latin typeface="Malgun Gothic"/>
              </a:defRPr>
            </a:pPr>
            <a:r>
              <a:t>pose FPS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965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1명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993391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1993391"/>
            <a:ext cx="2590504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195681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170.88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27685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2명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304287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2304287"/>
            <a:ext cx="2605816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226771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171.89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5877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3명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615184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2615184"/>
            <a:ext cx="2202717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257860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145.3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898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4명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926079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0" y="2926079"/>
            <a:ext cx="2212874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88950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145.97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20954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5명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236975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3236975"/>
            <a:ext cx="2576861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320040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169.98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886200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4F"/>
                </a:solidFill>
                <a:latin typeface="Malgun Gothic"/>
              </a:defRPr>
            </a:pPr>
            <a:r>
              <a:t>RTT 추정(ms)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343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1명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4370832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4370832"/>
            <a:ext cx="2240280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433425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140ms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56285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2명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590288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49440" y="4590288"/>
            <a:ext cx="2240280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455371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140ms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782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3명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4809744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49440" y="4809744"/>
            <a:ext cx="2640330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47731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165ms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0017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4명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5029200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49440" y="5029200"/>
            <a:ext cx="2624328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499262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164ms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522122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5명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5248656"/>
            <a:ext cx="28803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49440" y="5248656"/>
            <a:ext cx="2256282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521208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141ms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4572000"/>
            <a:ext cx="47548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해석: RTT는 5명까지 유지되지만 검출 안정성은 3명까지가 상한이다. 4~5명은 과검출이 33~38%로 늘고, 6명부터는 320px 실시간 설정에서 검출이 무너졌다.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Capacity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640px 정밀 확장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5166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4616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처리 FPS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프레임 RTT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운영 해석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0.730s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정밀 기준 처리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36.0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0.667s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검출 안정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0.718s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과검출 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30.9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0.778s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처리량 가능, 최소 검출 흔들림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0.714s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정밀 표시 한계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32.4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0.740s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과검출 급증, 한계 테스트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1508760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4F"/>
                </a:solidFill>
                <a:latin typeface="Malgun Gothic"/>
              </a:defRPr>
            </a:pPr>
            <a:r>
              <a:t>처리 FPS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65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993391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86600" y="1993391"/>
            <a:ext cx="1938141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95681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32.89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793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2206752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2206752"/>
            <a:ext cx="2119640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217017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35.97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92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420112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2420112"/>
            <a:ext cx="1971141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38353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33.45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606039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2633471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2633471"/>
            <a:ext cx="1817928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59689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30.85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819399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846831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2846831"/>
            <a:ext cx="1979391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81025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33.59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0327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3060191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3060191"/>
            <a:ext cx="1911035" cy="146304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02361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32.43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703320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4F"/>
                </a:solidFill>
                <a:latin typeface="Malgun Gothic"/>
              </a:defRPr>
            </a:pPr>
            <a:r>
              <a:t>프레임 RTT(ms)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160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4187952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6600" y="4187952"/>
            <a:ext cx="2150872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415137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730ms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3738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86600" y="4401312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86600" y="4401312"/>
            <a:ext cx="1965248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436473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667ms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587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4614672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86600" y="4614672"/>
            <a:ext cx="2115515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457809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718ms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48006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4828032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86600" y="4828032"/>
            <a:ext cx="2292299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0" y="479145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778ms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013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86600" y="5041392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5041392"/>
            <a:ext cx="2103729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500481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714ms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52273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678"/>
                </a:solidFill>
                <a:latin typeface="Malgun Gothic"/>
              </a:defRPr>
            </a:pPr>
            <a:r>
              <a:t>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5254752"/>
            <a:ext cx="2651760" cy="146304"/>
          </a:xfrm>
          <a:prstGeom prst="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86600" y="5254752"/>
            <a:ext cx="2180336" cy="146304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0" y="521817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314F"/>
                </a:solidFill>
                <a:latin typeface="Malgun Gothic"/>
              </a:defRPr>
            </a:pPr>
            <a:r>
              <a:t>740ms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Operation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인원수별 운영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4241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  <a:gridCol w="2606040"/>
                <a:gridCol w="2606040"/>
              </a:tblGrid>
              <a:tr h="4376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권장 인원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근거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발표 표현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현재 운영판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대표 인물 1명 시계열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낙상 판정 보증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통제 환경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2명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대상자+보호자까지 대표 유지 가능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운영 가능, 확인 필요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무저하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320px 실시간 RTT+검출 안정 상한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성능 저하 없음 설명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화면 표시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5명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브라우저/서버 overlay 기본 제한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표시 가능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추적 통합 후 목표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5명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person별 timeseries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개발 목표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한계 테스트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20명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처리량 확인용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상용 판정 보증 아님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98348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5명 초과는 카메라 분리 또는 ROI 구역 분리가 현실적이다.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person별 독립 판정 전에는 '다중 인원 표시'와 '다중 인원 판정'을 반드시 분리해 설명한다.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Frame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최적 프레임 예산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00200"/>
          <a:ext cx="102412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472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운영 모드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권장 설정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기본 실시간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4초 x 4fps = 16프레임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정확도와 지연의 균형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CPU 부족 / 4~5명 밀집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4초 x 3fps = 12프레임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RTT 안정화 우선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낙상 위험 구역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4초 x 5fps = 20프레임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움직임 변화 포착 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GPU/엣지 여유 장비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4초 x 6fps = 24프레임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상한 권장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24프레임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비권장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지연 증가 대비 이득 불확실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4892040"/>
            <a:ext cx="9875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892040"/>
            <a:ext cx="73152" cy="868680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038344"/>
            <a:ext cx="9555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806A"/>
                </a:solidFill>
                <a:latin typeface="Malgun Gothic"/>
              </a:defRPr>
            </a:pPr>
            <a:r>
              <a:t>핵심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67527"/>
            <a:ext cx="955548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화면은 15fps로 부드럽게, 서버 판정은 4fps 중심으로 안정화한다. 체감 실시간성과 모델 입력 예산을 분리한다.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현재 다중 인원 구조의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algun Gothic"/>
              </a:defRPr>
            </a:pPr>
            <a:r>
              <a:t>RF-Fall/XG-Posture 입력 timeseries는 아직 대표 인물 1명 기준이다.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algun Gothic"/>
              </a:defRPr>
            </a:pPr>
            <a:r>
              <a:t>프레임마다 bbox가 큰 사람을 다시 고르므로 사람이 교차하면 대표가 바뀔 수 있다.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algun Gothic"/>
              </a:defRPr>
            </a:pPr>
            <a:r>
              <a:t>낙상자가 뒤쪽에 작게 잡히면 FN 위험이 커진다.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algun Gothic"/>
              </a:defRPr>
            </a:pPr>
            <a:r>
              <a:t>20명 표시는 한계 테스트이지 상용 판정 보증이 아니다.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9164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73152" cy="868680"/>
          </a:xfrm>
          <a:prstGeom prst="rect">
            <a:avLst/>
          </a:prstGeom>
          <a:solidFill>
            <a:srgbClr val="B63A3A"/>
          </a:solidFill>
          <a:ln>
            <a:solidFill>
              <a:srgbClr val="B6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837944"/>
            <a:ext cx="4069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63A3A"/>
                </a:solidFill>
                <a:latin typeface="Malgun Gothic"/>
              </a:defRPr>
            </a:pPr>
            <a:r>
              <a:t>정확도 검증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167128"/>
            <a:ext cx="406908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person_id별 fall label이 있는 실제 다중 인원 영상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83464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834640"/>
            <a:ext cx="73152" cy="868680"/>
          </a:xfrm>
          <a:prstGeom prst="rect">
            <a:avLst/>
          </a:prstGeom>
          <a:solidFill>
            <a:srgbClr val="A87916"/>
          </a:solidFill>
          <a:ln>
            <a:solidFill>
              <a:srgbClr val="A87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980944"/>
            <a:ext cx="4069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7916"/>
                </a:solidFill>
                <a:latin typeface="Malgun Gothic"/>
              </a:defRPr>
            </a:pPr>
            <a:r>
              <a:t>ID switch 검증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310128"/>
            <a:ext cx="406908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track continuity, ID switch count, MOTA/IDF1 또는 단순 유지율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977639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977639"/>
            <a:ext cx="73152" cy="868680"/>
          </a:xfrm>
          <a:prstGeom prst="rect">
            <a:avLst/>
          </a:prstGeom>
          <a:solidFill>
            <a:srgbClr val="24476B"/>
          </a:solidFill>
          <a:ln>
            <a:solidFill>
              <a:srgbClr val="24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4123944"/>
            <a:ext cx="4069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476B"/>
                </a:solidFill>
                <a:latin typeface="Malgun Gothic"/>
              </a:defRPr>
            </a:pPr>
            <a:r>
              <a:t>RTT 검증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453127"/>
            <a:ext cx="406908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브라우저 인코딩, 네트워크, 서버 큐, person별 추론 포함 p50/p95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다음 구조: person별 timeseries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YOLO detections per frame -&gt; lightweight IoU/center tracker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track_id별 timeseries 생성 -&gt; track별 RF-Fall/XG-Posture 추론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person_results[] 응답 추가: person_id, fall_score, posture_state, occlusion_state, emotion_state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최고 위험 person_id를 기존 fall_detected/risk_score에 연결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실시간 chunk 간 1~2초 tail cache로 짧은 누락 보정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4800600"/>
          <a:ext cx="996696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289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구현 항목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검증 지표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chunk-local tracker + person_results[]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RTT p50/p95, ID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track별 RF/XG 입력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person별 Recall/F1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Model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모델 상태와 버전 표시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4241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  <a:gridCol w="2606040"/>
                <a:gridCol w="2606040"/>
              </a:tblGrid>
              <a:tr h="5410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모델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현재 성능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상태/해석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RF-Fall 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active v15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F1 98.08%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목표 충족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XG-Posture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active v1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F1 94.31%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AI-Hub71461 포함 기본 재학습 시작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XG-Posture 가림 보조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가림 보조 v20260617030130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Sequence F1 95.96%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목표 달성, 버전 표시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AI-Hub 82 표정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active #0092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Macro F1 88.37%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고정 seed 반복 제거, threshold calibration 추가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AI-Hub 173 상태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v4-best-recorded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Macro F1 93.24%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95% 목표 재학습 진행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98348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Malgun Gothic"/>
              </a:defRPr>
            </a:pPr>
            <a:r>
              <a:t>가림 보조 버전은 삭제 대상이 아니라 완료 evidence다. 기본 XG와 별도 카드/버전으로 표시한다.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Malgun Gothic"/>
              </a:defRPr>
            </a:pPr>
            <a:r>
              <a:t>82번 병목은 validation label noise와 distress/non-distress 경계. 다음 후보부터 threshold sweep까지 포함한다.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Message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발표에서 말해야 하는 것과 말하면 안 되는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권장 표현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피해야 할 표현</a:t>
                      </a:r>
                    </a:p>
                  </a:txBody>
                  <a:tcPr>
                    <a:solidFill>
                      <a:srgbClr val="18314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다중 인원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여러 사람 표시와 5명 overlay는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각 사람별 낙상 판정이 완성됨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성능저하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실시간 기본은 3명까지 무저하, 4~5명은 표시 가능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인원 증가에도 성능 저하 없음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RTT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pose-only RTT는 5명까지 예산 내, E2E p95는 추가 측정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RTT 문제가 완전히 해결됨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정확도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person별 라벨 영상으로 검증 필요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합성 벤치마크로 정확도 보증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프레임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기본 16프레임, 상황별 12~24프레임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무조건 프레임을 늘리면 정확도 상승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4892040"/>
            <a:ext cx="9875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892040"/>
            <a:ext cx="73152" cy="731520"/>
          </a:xfrm>
          <a:prstGeom prst="rect">
            <a:avLst/>
          </a:prstGeom>
          <a:solidFill>
            <a:srgbClr val="11806A"/>
          </a:solidFill>
          <a:ln>
            <a:solidFill>
              <a:srgbClr val="11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038344"/>
            <a:ext cx="9555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806A"/>
                </a:solidFill>
                <a:latin typeface="Malgun Gothic"/>
              </a:defRPr>
            </a:pPr>
            <a:r>
              <a:t>한 문장 결론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67527"/>
            <a:ext cx="9555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34155"/>
                </a:solidFill>
                <a:latin typeface="Malgun Gothic"/>
              </a:defRPr>
            </a:pPr>
            <a:r>
              <a:t>실시간 기본 설정에서 성능 저하 없음으로 말할 수 있는 선은 3명이다. 5명은 표시 가능하지만 판정은 보수적이며, 다음 단계는 person별 추적 판정과 실제 다중 인원 라벨 검증이다.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806A"/>
                </a:solidFill>
                <a:latin typeface="Malgun Gothic"/>
              </a:defRPr>
            </a:pPr>
            <a:r>
              <a:t>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14F"/>
                </a:solidFill>
                <a:latin typeface="Malgun Gothic"/>
              </a:defRPr>
            </a:pPr>
            <a:r>
              <a:t>실행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01498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FallAI 다중 인원 RTT/프레임 처리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B6678"/>
                </a:solidFill>
                <a:latin typeface="Malgun Gothic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1. 가림 보조: 완료 모델 버전과 sequence/window F1을 계속 표시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2. AI-Hub82: #0094 완료 후 threshold-tuned 후보부터 승격 기준에 반영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3. XG-Posture: AI-Hub71461 기반 기본 재학습 후보 생성 후 v1 대비 비교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4. 다중 인원: chunk-local tracker와 person_results[] 응답 설계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algun Gothic"/>
              </a:defRPr>
            </a:pPr>
            <a:r>
              <a:t>5. 검증: 1~5명 실제 라벨 영상으로 Recall/F1, RTT p50/p95, ID switch 재측정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