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B1BAC9"/>
                </a:solidFill>
                <a:latin typeface="Malgun Gothic"/>
              </a:rPr>
              <a:t>학습 현황 검증 · 운영 모델 · 가림 보조 · 데이터 요구사항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Malgun Gothic"/>
              </a:rPr>
              <a:t>FallAI 학습 운영 및 보조모델 고도화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6583680" cy="1325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algun Gothic"/>
              </a:rPr>
              <a:t>사이트에서 데이터를 업로드하고,
학습 현황과 성능을 확인한 뒤,
운영 모델에 바로 반영하는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163824"/>
            <a:ext cx="6675120" cy="51206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500" b="0">
                <a:solidFill>
                  <a:srgbClr val="C4CDDC"/>
                </a:solidFill>
                <a:latin typeface="Malgun Gothic"/>
              </a:rPr>
              <a:t>발표의 초점은 새 기능 나열이 아니라 운영 신뢰성입니다.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2468880" cy="1051560"/>
          </a:xfrm>
          <a:prstGeom prst="roundRect">
            <a:avLst/>
          </a:prstGeom>
          <a:solidFill>
            <a:srgbClr val="182436"/>
          </a:solidFill>
          <a:ln>
            <a:solidFill>
              <a:srgbClr val="32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297680"/>
            <a:ext cx="73152" cy="1051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21762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B1BAC9"/>
                </a:solidFill>
                <a:latin typeface="Malgun Gothic"/>
              </a:rPr>
              <a:t>RF-Fall v4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09160"/>
            <a:ext cx="21762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algun Gothic"/>
              </a:rPr>
              <a:t>97.0%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84648"/>
            <a:ext cx="2176272" cy="914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9BA6B8"/>
                </a:solidFill>
                <a:latin typeface="Malgun Gothic"/>
              </a:rPr>
              <a:t>Y 1,403 / N 568 학습 반영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4297680"/>
            <a:ext cx="2468880" cy="1051560"/>
          </a:xfrm>
          <a:prstGeom prst="roundRect">
            <a:avLst/>
          </a:prstGeom>
          <a:solidFill>
            <a:srgbClr val="182436"/>
          </a:solidFill>
          <a:ln>
            <a:solidFill>
              <a:srgbClr val="32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4297680"/>
            <a:ext cx="73152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1880" y="4434840"/>
            <a:ext cx="21762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B1BAC9"/>
                </a:solidFill>
                <a:latin typeface="Malgun Gothic"/>
              </a:rPr>
              <a:t>XG-Posture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709160"/>
            <a:ext cx="21762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algun Gothic"/>
              </a:rPr>
              <a:t>94.3%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184648"/>
            <a:ext cx="2176272" cy="914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9BA6B8"/>
                </a:solidFill>
                <a:latin typeface="Malgun Gothic"/>
              </a:rPr>
              <a:t>자세 macro 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4297680"/>
            <a:ext cx="2468880" cy="1051560"/>
          </a:xfrm>
          <a:prstGeom prst="roundRect">
            <a:avLst/>
          </a:prstGeom>
          <a:solidFill>
            <a:srgbClr val="182436"/>
          </a:solidFill>
          <a:ln>
            <a:solidFill>
              <a:srgbClr val="32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4297680"/>
            <a:ext cx="731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434840"/>
            <a:ext cx="21762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B1BAC9"/>
                </a:solidFill>
                <a:latin typeface="Malgun Gothic"/>
              </a:rPr>
              <a:t>가림 보조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60"/>
            <a:ext cx="21762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algun Gothic"/>
              </a:rPr>
              <a:t>86.6%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184648"/>
            <a:ext cx="2176272" cy="914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9BA6B8"/>
                </a:solidFill>
                <a:latin typeface="Malgun Gothic"/>
              </a:rPr>
              <a:t>조건부 자세 보조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4297680"/>
            <a:ext cx="2468880" cy="1051560"/>
          </a:xfrm>
          <a:prstGeom prst="roundRect">
            <a:avLst/>
          </a:prstGeom>
          <a:solidFill>
            <a:srgbClr val="182436"/>
          </a:solidFill>
          <a:ln>
            <a:solidFill>
              <a:srgbClr val="32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23960" y="429768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6840" y="4434840"/>
            <a:ext cx="21762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B1BAC9"/>
                </a:solidFill>
                <a:latin typeface="Malgun Gothic"/>
              </a:rPr>
              <a:t>상태 보조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4709160"/>
            <a:ext cx="21762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FFFFFF"/>
                </a:solidFill>
                <a:latin typeface="Malgun Gothic"/>
              </a:rPr>
              <a:t>90.5%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40" y="5184648"/>
            <a:ext cx="2176272" cy="914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9BA6B8"/>
                </a:solidFill>
                <a:latin typeface="Malgun Gothic"/>
              </a:rPr>
              <a:t>운영 active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6126480"/>
            <a:ext cx="210312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B1BAC9"/>
                </a:solidFill>
                <a:latin typeface="Malgun Gothic"/>
              </a:rPr>
              <a:t>2026-06-10 00:21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685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Malgun Gothi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508760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700" b="1">
                <a:solidFill>
                  <a:srgbClr val="121926"/>
                </a:solidFill>
                <a:latin typeface="Malgun Gothic"/>
              </a:rPr>
              <a:t>학습 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36192"/>
            <a:ext cx="6492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5C6575"/>
                </a:solidFill>
                <a:latin typeface="Malgun Gothic"/>
              </a:rPr>
              <a:t>학습현황 표시와 성능 확인 방식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084831"/>
            <a:ext cx="987552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468880"/>
            <a:ext cx="685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Malgun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468880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700" b="1">
                <a:solidFill>
                  <a:srgbClr val="121926"/>
                </a:solidFill>
                <a:latin typeface="Malgun Gothic"/>
              </a:rPr>
              <a:t>가림 보조모델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496312"/>
            <a:ext cx="6492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5C6575"/>
                </a:solidFill>
                <a:latin typeface="Malgun Gothic"/>
              </a:rPr>
              <a:t>하체·좌우 가림 학습 설계와 낙상 판단 영향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044952"/>
            <a:ext cx="987552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685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Malgun Gothi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429000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700" b="1">
                <a:solidFill>
                  <a:srgbClr val="121926"/>
                </a:solidFill>
                <a:latin typeface="Malgun Gothic"/>
              </a:rPr>
              <a:t>운영 모델 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456432"/>
            <a:ext cx="6492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5C6575"/>
                </a:solidFill>
                <a:latin typeface="Malgun Gothic"/>
              </a:rPr>
              <a:t>보조 신호를 제한적으로 반영하는 방식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05072"/>
            <a:ext cx="987552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389120"/>
            <a:ext cx="685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000" b="1">
                <a:solidFill>
                  <a:srgbClr val="0EA5E9"/>
                </a:solidFill>
                <a:latin typeface="Malgun Gothi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389120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700" b="1">
                <a:solidFill>
                  <a:srgbClr val="121926"/>
                </a:solidFill>
                <a:latin typeface="Malgun Gothic"/>
              </a:rPr>
              <a:t>데이터 요구사항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416552"/>
            <a:ext cx="6492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400" b="0">
                <a:solidFill>
                  <a:srgbClr val="5C6575"/>
                </a:solidFill>
                <a:latin typeface="Malgun Gothic"/>
              </a:rPr>
              <a:t>필요 데이터, 레이블, 수량, 우선순위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965192"/>
            <a:ext cx="987552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진행 중만 보던 화면에서 검증 가능한 상태판으로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학습 모드: 현황 표시 개선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8992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82296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270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Malgun Gothic"/>
              </a:rPr>
              <a:t>만든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508760"/>
            <a:ext cx="8549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추가로 확보한 낙상/비낙상 영상을 사이트에서 직접 업로드하고, Y/N·자세 라벨과 함께 intake에 저장하기 위해 만들었다.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1078992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42316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53288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운영 흐름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514600"/>
            <a:ext cx="8549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업로드 등록 → 라벨 검증 → 백그라운드 학습 job → 성능 확인 → 운영 모델 적용 순서로 진행한다.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429000"/>
            <a:ext cx="1078992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42900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5387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표시 개선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20440"/>
            <a:ext cx="854964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진행 중뿐 아니라 완료, 차단, 실패 상태를 함께 보여서 학습 가능 여부와 적용 여부를 분리한다.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92040"/>
            <a:ext cx="128016" cy="12801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855464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21926"/>
                </a:solidFill>
                <a:latin typeface="Malgun Gothic"/>
              </a:rPr>
              <a:t>학습 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5047488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5C6575"/>
                </a:solidFill>
                <a:latin typeface="Malgun Gothic"/>
              </a:rPr>
              <a:t>프로세스·로그 표시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4892040"/>
            <a:ext cx="128016" cy="12801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64408" y="4855464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21926"/>
                </a:solidFill>
                <a:latin typeface="Malgun Gothic"/>
              </a:rPr>
              <a:t>완료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64408" y="5047488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5C6575"/>
                </a:solidFill>
                <a:latin typeface="Malgun Gothic"/>
              </a:rPr>
              <a:t>성능 지표 표시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80" y="4892040"/>
            <a:ext cx="128016" cy="12801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3248" y="4855464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21926"/>
                </a:solidFill>
                <a:latin typeface="Malgun Gothic"/>
              </a:rPr>
              <a:t>데이터 대기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5047488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5C6575"/>
                </a:solidFill>
                <a:latin typeface="Malgun Gothic"/>
              </a:rPr>
              <a:t>원천/라벨 부족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4892040"/>
            <a:ext cx="128016" cy="128016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4855464"/>
            <a:ext cx="173736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121926"/>
                </a:solidFill>
                <a:latin typeface="Malgun Gothic"/>
              </a:rPr>
              <a:t>중단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5047488"/>
            <a:ext cx="19202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5C6575"/>
                </a:solidFill>
                <a:latin typeface="Malgun Gothic"/>
              </a:rPr>
              <a:t>PID 종료·실패 로그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현재 서비스에 사용 중인 active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상태 보조 운영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63040"/>
            <a:ext cx="31546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6304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00200"/>
            <a:ext cx="28620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운영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874520"/>
            <a:ext cx="28620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28620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상태 보조 모델 사용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63040"/>
            <a:ext cx="31546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46304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600200"/>
            <a:ext cx="28620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Macro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20"/>
            <a:ext cx="28620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0.9054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50008"/>
            <a:ext cx="28620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운영 기준 성능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463040"/>
            <a:ext cx="315468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79" y="1463040"/>
            <a:ext cx="73152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9" y="1600200"/>
            <a:ext cx="286207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1874520"/>
            <a:ext cx="286207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0.9020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350008"/>
            <a:ext cx="28620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운영 기준 성능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4290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42900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5387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역할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5204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상태 보조 모델은 졸림, 하품, 주의저하처럼 낙상 판단에 참고할 수 있는 상태 신호를 제공한다.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3434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434340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4531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운영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4348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낙상 여부를 단독으로 결정하지 않고 RF-Fall과 자세 판단 결과를 보조하는 제한 신호로 사용한다.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서비스에 적용된 모델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현재 모델 운영 상태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222199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RF-Fall 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22199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적용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22219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CV F1 97.0%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41732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417320"/>
            <a:ext cx="73152" cy="12344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1554480"/>
            <a:ext cx="222199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XG-Posture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1828800"/>
            <a:ext cx="222199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목표 충족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304288"/>
            <a:ext cx="22219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Macro F1 94.3%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41732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41732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554480"/>
            <a:ext cx="222199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가림 보조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222199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학습 완료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04288"/>
            <a:ext cx="22219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Macro F1 86.6%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417320"/>
            <a:ext cx="251460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417320"/>
            <a:ext cx="73152" cy="1234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554480"/>
            <a:ext cx="222199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상태 보조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1828800"/>
            <a:ext cx="222199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운영 active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304288"/>
            <a:ext cx="222199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F1 0.9054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4290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342900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35387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운영 모델 4개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5204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RF-Fall, XG-Posture, 가림 보조, 상태 보조를 각각 목적별 active 모델로 운영한다.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3434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34340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44531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RF-Fall 적용 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4348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사이트 업로드 데이터 Y 1,403 / N 568 / 총 1,971개로 학습했고, CV F1 97.0% · Acc 95.7% · Recall 97.9%를 확인한 뒤 적용했다.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52578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25780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3675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7C3AED"/>
                </a:solidFill>
                <a:latin typeface="Malgun Gothic"/>
              </a:rPr>
              <a:t>이후 운영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3492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추가 데이터가 들어오면 모델별 라벨 조건을 맞춘 뒤 학습하고, 현재 운영 모델과 비교해 더 좋은 모델만 반영한다.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하체 가림과 좌우 가림을 따로 만들고 자세 모델의 약점을 보완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가림 보조모델 학습 설계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2953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하체 가림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295351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y축 기준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2953512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무릎·발·하체가 사라지는 상황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2953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좌우 가림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828800"/>
            <a:ext cx="295351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x축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04288"/>
            <a:ext cx="2953512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문틀·가구·프레임 밖으로 한쪽 몸이 가려짐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246120" cy="132588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173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2953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랜덤 강도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828800"/>
            <a:ext cx="295351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mild / moderate / severe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304288"/>
            <a:ext cx="2953512" cy="36575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고정 가림이 아니라 범위 내 샘플링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361188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361188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372160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학습 목적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370332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가림 자체를 낙상으로 판단하는 것이 아니라, 가림 때문에 posture가 sit/lie/stand 사이에서 흔들리는 문제를 줄인다.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68680" y="452628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452628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463600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운영 방식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61772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평소에는 기존 자세 모델을 쓰고, keypoint confidence나 visibility가 낮은 경우에만 보조 확률을 blend한다.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좌우 가림도 고정값이 아니라 범위 샘플링으로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가림 랜덤 수치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>
                <a:solidFill>
                  <a:srgbClr val="121926"/>
                </a:solidFill>
                <a:latin typeface="Malgun Gothic"/>
              </a:rPr>
              <a:t>하체 mild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490472"/>
            <a:ext cx="5166360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2044" y="1463040"/>
            <a:ext cx="516635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39903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7C3AED"/>
                </a:solidFill>
                <a:latin typeface="Malgun Gothic"/>
              </a:rPr>
              <a:t>0.68-0.78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70992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하체 일부만 가려지는 약한 케이스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4884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>
                <a:solidFill>
                  <a:srgbClr val="121926"/>
                </a:solidFill>
                <a:latin typeface="Malgun Gothic"/>
              </a:rPr>
              <a:t>하체 moderate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221992"/>
            <a:ext cx="5166360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30418" y="2194560"/>
            <a:ext cx="671626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213055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7C3AED"/>
                </a:solidFill>
                <a:latin typeface="Malgun Gothic"/>
              </a:rPr>
              <a:t>0.55-0.68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4144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허벅지 아래가 상당 부분 가려지는 케이스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88036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>
                <a:solidFill>
                  <a:srgbClr val="121926"/>
                </a:solidFill>
                <a:latin typeface="Malgun Gothic"/>
              </a:rPr>
              <a:t>하체 severe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2953512"/>
            <a:ext cx="5166360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58791" y="2926079"/>
            <a:ext cx="671626" cy="1645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286207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7C3AED"/>
                </a:solidFill>
                <a:latin typeface="Malgun Gothic"/>
              </a:rPr>
              <a:t>0.42-0.55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7296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하체 대부분이 사라지는 강한 케이스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88620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>
                <a:solidFill>
                  <a:srgbClr val="121926"/>
                </a:solidFill>
                <a:latin typeface="Malgun Gothic"/>
              </a:rPr>
              <a:t>좌/우 mild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959352"/>
            <a:ext cx="5166360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18864" y="3931920"/>
            <a:ext cx="619963" cy="1645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38679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0EA5E9"/>
                </a:solidFill>
                <a:latin typeface="Malgun Gothic"/>
              </a:rPr>
              <a:t>0.18-0.30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7880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화면 한쪽 일부가 가려지는 케이스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61772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>
                <a:solidFill>
                  <a:srgbClr val="121926"/>
                </a:solidFill>
                <a:latin typeface="Malgun Gothic"/>
              </a:rPr>
              <a:t>좌/우 moderate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690872"/>
            <a:ext cx="5166360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38828" y="4663440"/>
            <a:ext cx="774954" cy="1645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59943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0EA5E9"/>
                </a:solidFill>
                <a:latin typeface="Malgun Gothic"/>
              </a:rPr>
              <a:t>0.30-0.45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91032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옆면 가림이 자세 판정에 영향을 주는 케이스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349240"/>
            <a:ext cx="23774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100" b="1">
                <a:solidFill>
                  <a:srgbClr val="121926"/>
                </a:solidFill>
                <a:latin typeface="Malgun Gothic"/>
              </a:rPr>
              <a:t>좌/우 severe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5422392"/>
            <a:ext cx="5166360" cy="109728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113782" y="5394959"/>
            <a:ext cx="671626" cy="16459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533095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1">
                <a:solidFill>
                  <a:srgbClr val="0EA5E9"/>
                </a:solidFill>
                <a:latin typeface="Malgun Gothic"/>
              </a:rPr>
              <a:t>0.45-0.58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4184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몸의 절반 가까이가 가려지는 강한 케이스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최종 판단을 대체하지 않고 불확실한 posture를 안정화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가림이 낙상 판단에 미치는 영향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1926"/>
                </a:solidFill>
                <a:latin typeface="Malgun Gothic"/>
              </a:rPr>
              <a:t>입력 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64208"/>
            <a:ext cx="1005840" cy="45720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22860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1926"/>
                </a:solidFill>
                <a:latin typeface="Malgun Gothic"/>
              </a:rPr>
              <a:t>가림 위험 계산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64208"/>
            <a:ext cx="1005840" cy="45720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1508760"/>
            <a:ext cx="246888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121926"/>
                </a:solidFill>
                <a:latin typeface="Malgun Gothic"/>
              </a:rPr>
              <a:t>조건부 blend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103120"/>
            <a:ext cx="9875520" cy="18288"/>
          </a:xfrm>
          <a:prstGeom prst="rect">
            <a:avLst/>
          </a:prstGeom>
          <a:solidFill>
            <a:srgbClr val="DAE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2788920"/>
            <a:ext cx="324612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788920"/>
            <a:ext cx="73152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79"/>
            <a:ext cx="2953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트리거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295351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confidence &lt; 0.38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75887"/>
            <a:ext cx="2953512" cy="3200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또는 lower visibility &lt; 0.42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2788920"/>
            <a:ext cx="324612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2788920"/>
            <a:ext cx="73152" cy="1280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17720" y="2926079"/>
            <a:ext cx="2953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자세 보정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200400"/>
            <a:ext cx="295351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margin &lt; 0.07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675887"/>
            <a:ext cx="2953512" cy="3200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주 모델이 애매할 때만 blend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2788920"/>
            <a:ext cx="324612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278892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2926079"/>
            <a:ext cx="295351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낙상 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3200400"/>
            <a:ext cx="295351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occlusion_fall_risk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675887"/>
            <a:ext cx="2953512" cy="3200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65개 feature 중 하나로 반영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48006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8680" y="480060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" y="49103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검증 방향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8920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가림이 많은 구간에서 sit/lie/stand confusion이 줄어드는지와 RF-Fall false positive가 늘지 않는지를 함께 본다.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보조 신호는 주 판단을 대체하지 않도록 제한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운영 판단 보수화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417320"/>
            <a:ext cx="10652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41732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5270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주 판단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508760"/>
            <a:ext cx="8412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낙상 여부는 RF-Fall과 자세 흐름을 기준으로 판단하고, 보조 모델은 특정 조건에서만 참고한다.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31720"/>
            <a:ext cx="10652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82296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4414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Malgun Gothic"/>
              </a:rPr>
              <a:t>가림 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2423160"/>
            <a:ext cx="8412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keypoint confidence, visibility, posture margin이 낮은 경우에만 가림 보조를 blend한다.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46120"/>
            <a:ext cx="10652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24612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33558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상태 조건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337560"/>
            <a:ext cx="8412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상태 보조는 졸림·주의저하처럼 위험 해석에 필요한 맥락만 제공하고 단독 낙상 판정에는 쓰지 않는다.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106527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60520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2702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Malgun Gothic"/>
              </a:rPr>
              <a:t>적용 원칙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4251959"/>
            <a:ext cx="841248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새 후보 모델은 현재 운영 모델보다 지표가 낮으면 자동 적용하지 않고, 후보 로그로만 남긴다.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사용자가 직접 확보하기 어려운 통제 촬영 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교수님께 요청할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83564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5270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Hard negative 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508760"/>
            <a:ext cx="85953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현재 추가 업로드는 Y 1,403 / N 1,196이다. 1:1 균형을 위해 우선 N 207개 안팎이 더 필요하다.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240280"/>
            <a:ext cx="1083564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24028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35000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비낙상 장면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331720"/>
            <a:ext cx="85953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앉기, 눕기, 바닥 작업, 침대/소파 이동, 물건 줍기, 운동·스트레칭처럼 낙상과 비슷하지만 실제 N인 장면.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63240"/>
            <a:ext cx="1083564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063240"/>
            <a:ext cx="82296" cy="6583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17296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E11D48"/>
                </a:solidFill>
                <a:latin typeface="Malgun Gothic"/>
              </a:rPr>
              <a:t>경계 낙상 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154680"/>
            <a:ext cx="85953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천천히 주저앉음, 미끄러짐, 의자·침대 낙상, 바로 회복하는 짧은 낙상처럼 recall이 흔들리는 장면.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1083564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886200"/>
            <a:ext cx="82296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9959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7C3AED"/>
                </a:solidFill>
                <a:latin typeface="Malgun Gothic"/>
              </a:rPr>
              <a:t>가림/상태 통제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77639"/>
            <a:ext cx="85953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하체·좌우 가림 비율, 문틀·가구 가림, 졸림·주의저하·정상 상태를 함께 기록한다.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92040"/>
            <a:ext cx="1083564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892040"/>
            <a:ext cx="82296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500176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F59E0B"/>
                </a:solidFill>
                <a:latin typeface="Malgun Gothic"/>
              </a:rPr>
              <a:t>필수 레이블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983479"/>
            <a:ext cx="859535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Y/N, 자세, 낙상 시작/종료 시간, 가림 방향·비율, 상태 라벨, 카메라 각도, 조명, 장소를 한 클립 단위로 저장한다.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현재 업로드와 교수님 요청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데이터 수와 수집 우선순위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17320"/>
            <a:ext cx="73152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현재 업로드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23134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Y 1,403 / N 1,196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04288"/>
            <a:ext cx="2313432" cy="182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총 2,599개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1417320"/>
            <a:ext cx="73152" cy="1143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155448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RF 운영 모델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28800"/>
            <a:ext cx="23134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97.0%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04288"/>
            <a:ext cx="2313432" cy="182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Acc 95.7% · 적용 완료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1417320"/>
            <a:ext cx="73152" cy="1143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55448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N 추가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1828800"/>
            <a:ext cx="23134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+207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304288"/>
            <a:ext cx="2313432" cy="182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1:1 균형 우선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417320"/>
            <a:ext cx="260604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1417320"/>
            <a:ext cx="73152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59" y="1554480"/>
            <a:ext cx="23134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검증셋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1828800"/>
            <a:ext cx="23134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Y/N 200+200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59" y="2304288"/>
            <a:ext cx="2313432" cy="182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학습 미사용 holdout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338328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3383280"/>
            <a:ext cx="82296" cy="658368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349300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E11D48"/>
                </a:solidFill>
                <a:latin typeface="Malgun Gothic"/>
              </a:rPr>
              <a:t>1순위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47472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비낙상 hard negative N 207개 내외: 바닥에 앉기·눕기, 기대기, 물건 줍기, 침대/소파 이동.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416052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160520"/>
            <a:ext cx="82296" cy="65836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427024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0EA5E9"/>
                </a:solidFill>
                <a:latin typeface="Malgun Gothic"/>
              </a:rPr>
              <a:t>2순위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251959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가림 paired set 약 360개: 하체/좌/우 × mild/moderate/severe × Y/N을 같은 동작 조건으로 촬영.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" y="493776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4937760"/>
            <a:ext cx="82296" cy="65836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" y="504748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14B8A6"/>
                </a:solidFill>
                <a:latin typeface="Malgun Gothic"/>
              </a:rPr>
              <a:t>3순위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6080" y="502920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경계 낙상 Y 300~400개와 상태 보조 300~500개: 졸림·주의저하·정상 상태를 분리해 라벨링.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" y="5715000"/>
            <a:ext cx="10195560" cy="658368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68680" y="5715000"/>
            <a:ext cx="82296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" y="5824728"/>
            <a:ext cx="246888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2563EB"/>
                </a:solidFill>
                <a:latin typeface="Malgun Gothic"/>
              </a:rPr>
              <a:t>검증 원칙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5806440"/>
            <a:ext cx="7955279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300" b="0">
                <a:solidFill>
                  <a:srgbClr val="121926"/>
                </a:solidFill>
                <a:latin typeface="Malgun Gothic"/>
              </a:rPr>
              <a:t>교수님 제작 데이터 일부는 학습에 넣지 않고 holdout으로 남겨 실제 성능을 다시 표시한다.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7955279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보이는 학습, 적용된 운영 모델, 제한된 보조 신호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9966960" cy="53035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2500" b="1">
                <a:solidFill>
                  <a:srgbClr val="121926"/>
                </a:solidFill>
                <a:latin typeface="Malgun Gothic"/>
              </a:rP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61288"/>
            <a:ext cx="1005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664208" y="1161288"/>
            <a:ext cx="438912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640080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800" b="0">
                <a:solidFill>
                  <a:srgbClr val="828C9A"/>
                </a:solidFill>
                <a:latin typeface="Malgun Gothic"/>
              </a:rPr>
              <a:t>FallAI 학습 운영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92240"/>
            <a:ext cx="530352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800" b="0">
                <a:solidFill>
                  <a:srgbClr val="828C9A"/>
                </a:solidFill>
                <a:latin typeface="Malgun Gothic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600200"/>
            <a:ext cx="73152" cy="14630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29992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학습 모드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011680"/>
            <a:ext cx="29992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상태 표시 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299923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완료·중단·데이터 대기까지 보이게 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600200"/>
            <a:ext cx="73152" cy="1463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737360"/>
            <a:ext cx="29992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가림 보조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11680"/>
            <a:ext cx="29992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하체+좌우 랜덤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87168"/>
            <a:ext cx="299923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가림 때문에 흔들리는 자세 판단을 조건부로 보정한다.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291840" cy="1463040"/>
          </a:xfrm>
          <a:prstGeom prst="roundRect">
            <a:avLst/>
          </a:prstGeom>
          <a:solidFill>
            <a:srgbClr val="F8FAFC"/>
          </a:solidFill>
          <a:ln>
            <a:solidFill>
              <a:srgbClr val="DA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600200"/>
            <a:ext cx="73152" cy="1463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19" y="1737360"/>
            <a:ext cx="2999232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000" b="1">
                <a:solidFill>
                  <a:srgbClr val="5C6575"/>
                </a:solidFill>
                <a:latin typeface="Malgun Gothic"/>
              </a:rPr>
              <a:t>운영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011680"/>
            <a:ext cx="2999232" cy="4297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1900" b="1">
                <a:solidFill>
                  <a:srgbClr val="121926"/>
                </a:solidFill>
                <a:latin typeface="Malgun Gothic"/>
              </a:rPr>
              <a:t>낮은 후보 차단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2487168"/>
            <a:ext cx="2999232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r>
              <a:rPr sz="900" b="0">
                <a:solidFill>
                  <a:srgbClr val="5C6575"/>
                </a:solidFill>
                <a:latin typeface="Malgun Gothic"/>
              </a:rPr>
              <a:t>현재 운영 모델보다 낮은 결과는 자동 적용하지 않는다.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0520"/>
            <a:ext cx="1014984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21926"/>
                </a:solidFill>
                <a:latin typeface="Malgun Gothic"/>
              </a:rPr>
              <a:t>발표 메시지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63440"/>
            <a:ext cx="9966960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121926"/>
                </a:solidFill>
                <a:latin typeface="Malgun Gothic"/>
              </a:rPr>
              <a:t>FallAI는 사이트 업로드 데이터로 모델을 학습하고,
성능이 확인된 모델을 운영에 반영하며,
가림·상태 보조 신호를 보수적으로 통제한다.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